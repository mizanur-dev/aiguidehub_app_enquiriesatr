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301" r:id="rId3"/>
    <p:sldId id="302" r:id="rId4"/>
    <p:sldId id="260" r:id="rId5"/>
    <p:sldId id="270" r:id="rId6"/>
    <p:sldId id="271" r:id="rId7"/>
    <p:sldId id="29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h" initials="j" lastIdx="1" clrIdx="0">
    <p:extLst>
      <p:ext uri="{19B8F6BF-5375-455C-9EA6-DF929625EA0E}">
        <p15:presenceInfo xmlns:p15="http://schemas.microsoft.com/office/powerpoint/2012/main" userId="jona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6337" autoAdjust="0"/>
  </p:normalViewPr>
  <p:slideViewPr>
    <p:cSldViewPr>
      <p:cViewPr varScale="1">
        <p:scale>
          <a:sx n="106" d="100"/>
          <a:sy n="106" d="100"/>
        </p:scale>
        <p:origin x="172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8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1-18T19:57:29.756" idx="1">
    <p:pos x="10" y="10"/>
    <p:text/>
    <p:extLst>
      <p:ext uri="{C676402C-5697-4E1C-873F-D02D1690AC5C}">
        <p15:threadingInfo xmlns:p15="http://schemas.microsoft.com/office/powerpoint/2012/main" timeZoneBias="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9E1BA-2AFC-49D8-B8FA-D090534441C7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E7B0A-9AE6-4F24-8824-FE94518F7D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10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E7B0A-9AE6-4F24-8824-FE94518F7D7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444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Civil law 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magistrates/county court </a:t>
            </a: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criminal: judge, jury, crown court </a:t>
            </a: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common law: custom and practice, statute law, acts of parliament </a:t>
            </a: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E7B0A-9AE6-4F24-8824-FE94518F7D7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396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E7B0A-9AE6-4F24-8824-FE94518F7D7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467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63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26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7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321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9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35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378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662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927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32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33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55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ssgsolutions.co.uk/sia-courses/sia-training-course-gloucester.php?wvideo=cxruolsz7q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16632"/>
            <a:ext cx="7772400" cy="2160239"/>
          </a:xfrm>
        </p:spPr>
        <p:txBody>
          <a:bodyPr>
            <a:noAutofit/>
          </a:bodyPr>
          <a:lstStyle/>
          <a:p>
            <a:br>
              <a:rPr lang="en-GB" sz="3200" dirty="0"/>
            </a:b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Law &amp; Legislation</a:t>
            </a:r>
            <a:b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level 3 Close Protection Operations</a:t>
            </a:r>
            <a:b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1844824"/>
            <a:ext cx="7992888" cy="4608512"/>
          </a:xfrm>
        </p:spPr>
        <p:txBody>
          <a:bodyPr>
            <a:normAutofit/>
          </a:bodyPr>
          <a:lstStyle/>
          <a:p>
            <a:r>
              <a:rPr lang="en-GB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as a Close Protection Operative </a:t>
            </a:r>
          </a:p>
          <a:p>
            <a:r>
              <a:rPr lang="en-GB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 the legislation that is relevant to people working in the close </a:t>
            </a:r>
          </a:p>
          <a:p>
            <a:r>
              <a:rPr lang="en-GB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Protection Industry. </a:t>
            </a:r>
          </a:p>
          <a:p>
            <a:endParaRPr lang="en-GB" sz="3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5DCD13-BB1B-451D-A3B9-EBB3671CE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3982989"/>
            <a:ext cx="5040560" cy="216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1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Identify the main functions of the Security Industry Authority and other key bodies within the private security industry.</a:t>
            </a: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Identify aspects of human rights legislation that are relevant to the private security industry. </a:t>
            </a:r>
          </a:p>
          <a:p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GB" sz="3600" dirty="0"/>
            </a:br>
            <a:br>
              <a:rPr lang="en-GB" sz="3600" dirty="0"/>
            </a:br>
            <a:r>
              <a:rPr lang="en-GB" sz="3600" dirty="0"/>
              <a:t>Law &amp; Legislation</a:t>
            </a:r>
            <a:br>
              <a:rPr lang="en-GB" sz="3600" dirty="0"/>
            </a:br>
            <a:r>
              <a:rPr lang="en-GB" sz="3600" dirty="0"/>
              <a:t>level 3 Close Protection Operations</a:t>
            </a:r>
            <a:br>
              <a:rPr lang="en-GB" sz="3600" dirty="0"/>
            </a:br>
            <a:br>
              <a:rPr lang="en-GB" dirty="0"/>
            </a:b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3C830A-FBC4-48B4-B33A-17935AF82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5013176"/>
            <a:ext cx="3744416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08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8BA9-2305-4188-B209-CB5E488B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C6D44C60-69E9-4393-B4ED-AC74344B3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961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prstClr val="black"/>
                </a:solidFill>
              </a:rPr>
              <a:t>Law &amp; Legislation</a:t>
            </a:r>
            <a:br>
              <a:rPr lang="en-GB" sz="3200" dirty="0">
                <a:solidFill>
                  <a:prstClr val="black"/>
                </a:solidFill>
              </a:rPr>
            </a:br>
            <a:r>
              <a:rPr lang="en-GB" sz="3200" dirty="0">
                <a:solidFill>
                  <a:prstClr val="black"/>
                </a:solidFill>
              </a:rPr>
              <a:t>level 3 Close Protection Operations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3 types of Law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Civil Law </a:t>
            </a: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Criminal Law 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Common Law 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7D9A5-93FD-4CCE-910E-DB0C84F1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908" y="2345643"/>
            <a:ext cx="4554393" cy="303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4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68760"/>
          </a:xfrm>
        </p:spPr>
        <p:txBody>
          <a:bodyPr>
            <a:normAutofit fontScale="90000"/>
          </a:bodyPr>
          <a:lstStyle/>
          <a:p>
            <a:r>
              <a:rPr lang="en-GB" sz="3100" dirty="0"/>
              <a:t>Law &amp; Legislation</a:t>
            </a:r>
            <a:br>
              <a:rPr lang="en-GB" sz="3100" dirty="0"/>
            </a:br>
            <a:r>
              <a:rPr lang="en-GB" sz="3100" dirty="0"/>
              <a:t> level 3 Close Protection Operations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pPr marL="0" indent="0" algn="ctr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Arrest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What is an arrest?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term arrest means Take away or deprive a person of their liberty</a:t>
            </a:r>
          </a:p>
          <a:p>
            <a:endParaRPr lang="en-GB" sz="2800" dirty="0"/>
          </a:p>
          <a:p>
            <a:pPr marL="0" indent="0" algn="ctr">
              <a:buNone/>
            </a:pPr>
            <a:r>
              <a:rPr lang="en-GB" sz="2800" dirty="0"/>
              <a:t> </a:t>
            </a:r>
          </a:p>
          <a:p>
            <a:endParaRPr lang="en-GB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996952"/>
            <a:ext cx="8431440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67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altLang="en-US" sz="3100" dirty="0">
                <a:solidFill>
                  <a:schemeClr val="tx2"/>
                </a:solidFill>
              </a:rPr>
            </a:br>
            <a:r>
              <a:rPr lang="en-GB" altLang="en-US" sz="3100" dirty="0"/>
              <a:t>Law &amp; Legislation</a:t>
            </a:r>
            <a:br>
              <a:rPr lang="en-GB" altLang="en-US" sz="3100" dirty="0"/>
            </a:br>
            <a:r>
              <a:rPr lang="en-GB" altLang="en-US" sz="3100" dirty="0"/>
              <a:t>level 3 Close Protection Operations</a:t>
            </a:r>
            <a:br>
              <a:rPr lang="en-GB" altLang="en-US" dirty="0">
                <a:solidFill>
                  <a:schemeClr val="tx2"/>
                </a:solidFill>
              </a:rPr>
            </a:b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9294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altLang="en-US" sz="2800" b="1" dirty="0"/>
              <a:t>Arrest Procedures</a:t>
            </a:r>
          </a:p>
          <a:p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When an arrest is made the following must be explained to the suspect.</a:t>
            </a:r>
          </a:p>
          <a:p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Who you are.</a:t>
            </a:r>
          </a:p>
          <a:p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That you are arresting  them. </a:t>
            </a:r>
          </a:p>
          <a:p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reason the person is  being arrested.</a:t>
            </a:r>
          </a:p>
          <a:p>
            <a:pPr marL="0" indent="0">
              <a:buNone/>
            </a:pPr>
            <a:endParaRPr lang="en-GB" altLang="en-US" b="1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4581128"/>
            <a:ext cx="3528392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4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4624"/>
            <a:ext cx="9144000" cy="6813376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Legislation</a:t>
            </a:r>
          </a:p>
          <a:p>
            <a:pPr marL="0" indent="0" algn="ctr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SURVEILLANCE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Regulation of Investigatory Powers Act 2000 (</a:t>
            </a:r>
            <a:r>
              <a:rPr lang="en-GB" sz="2800" dirty="0" err="1">
                <a:latin typeface="Arial" panose="020B0604020202020204" pitchFamily="34" charset="0"/>
                <a:cs typeface="Arial" panose="020B0604020202020204" pitchFamily="34" charset="0"/>
              </a:rPr>
              <a:t>RIPA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2000) – Watching or listening. There are no controls over what we see or hear. So long as we have no enhancements we commit no offences.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4D550A-D25D-4BA3-A172-9AB63277D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3933056"/>
            <a:ext cx="4752528" cy="195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21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830</TotalTime>
  <Words>247</Words>
  <Application>Microsoft Office PowerPoint</Application>
  <PresentationFormat>On-screen Show (4:3)</PresentationFormat>
  <Paragraphs>51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 Law &amp; Legislation level 3 Close Protection Operations </vt:lpstr>
      <vt:lpstr>  Law &amp; Legislation level 3 Close Protection Operations  </vt:lpstr>
      <vt:lpstr>PowerPoint Presentation</vt:lpstr>
      <vt:lpstr>Law &amp; Legislation level 3 Close Protection Operations</vt:lpstr>
      <vt:lpstr>Law &amp; Legislation  level 3 Close Protection Operations </vt:lpstr>
      <vt:lpstr> Law &amp; Legislation level 3 Close Protection Operations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</dc:creator>
  <cp:lastModifiedBy>Md. Mizanur Rahman</cp:lastModifiedBy>
  <cp:revision>69</cp:revision>
  <dcterms:created xsi:type="dcterms:W3CDTF">2015-06-24T08:17:58Z</dcterms:created>
  <dcterms:modified xsi:type="dcterms:W3CDTF">2026-05-11T19:27:28Z</dcterms:modified>
</cp:coreProperties>
</file>